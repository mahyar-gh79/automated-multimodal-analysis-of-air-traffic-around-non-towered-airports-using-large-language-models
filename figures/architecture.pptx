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234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  <a:latin typeface="Times New Roman"/>
              </a:rPr>
              <a:t>Per scenario: one (METAR, audio, ground-truth label) tuple from the CTAF-KHAF benchmark (94 test scenarios + 6 ICL).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11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Times New Roman"/>
              </a:rPr>
              <a:t>(a) Inputs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685800"/>
            <a:ext cx="1737360" cy="914400"/>
          </a:xfrm>
          <a:prstGeom prst="roundRect">
            <a:avLst/>
          </a:prstGeom>
          <a:solidFill>
            <a:srgbClr val="DCE6F1"/>
          </a:solidFill>
          <a:ln w="9525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A1A1A"/>
                </a:solidFill>
                <a:latin typeface="Times New Roman"/>
              </a:rPr>
              <a:t>CTAF Audio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MP3, 30–90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920240"/>
            <a:ext cx="1737360" cy="914400"/>
          </a:xfrm>
          <a:prstGeom prst="roundRect">
            <a:avLst/>
          </a:prstGeom>
          <a:solidFill>
            <a:srgbClr val="DCE6F1"/>
          </a:solidFill>
          <a:ln w="9525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A1A1A"/>
                </a:solidFill>
                <a:latin typeface="Times New Roman"/>
              </a:rPr>
              <a:t>METAR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raw + parsed weather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41148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Times New Roman"/>
              </a:rPr>
              <a:t>(b) ASR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685800"/>
            <a:ext cx="1691640" cy="914400"/>
          </a:xfrm>
          <a:prstGeom prst="roundRect">
            <a:avLst/>
          </a:prstGeom>
          <a:solidFill>
            <a:srgbClr val="EAEAEA"/>
          </a:solidFill>
          <a:ln w="9525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A1A1A"/>
                </a:solidFill>
                <a:latin typeface="Times New Roman"/>
              </a:rPr>
              <a:t>Whisper ASR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large-v3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114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Times New Roman"/>
              </a:rPr>
              <a:t>(c) Conditioning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685800"/>
            <a:ext cx="2331720" cy="2423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A1A1A"/>
                </a:solidFill>
                <a:latin typeface="Times New Roman"/>
              </a:rPr>
              <a:t>Prompt Assembly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• System prompt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• ICL exemplars (0/1/2 per class)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• Optional CoT cue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• Concatenate METAR + transcript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/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Task switch: 3-class | Binary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4114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Times New Roman"/>
              </a:rPr>
              <a:t>(d)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685800"/>
            <a:ext cx="2606040" cy="2423160"/>
          </a:xfrm>
          <a:prstGeom prst="roundRect">
            <a:avLst/>
          </a:prstGeom>
          <a:solidFill>
            <a:srgbClr val="FCE4D6"/>
          </a:solidFill>
          <a:ln w="9525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A1A1A"/>
                </a:solidFill>
                <a:latin typeface="Times New Roman"/>
              </a:rPr>
              <a:t>Safety Classifier (LLM)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/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Open-source: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  Qwen 2.5-7B,  Mistral-7B,  Gemma-2-9B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/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Closed-source: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  GPT-4o,  GPT-5.4,  Claude Sonnet 4.6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/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output: {label, conf, reasoning, p_class}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4114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Times New Roman"/>
              </a:rPr>
              <a:t>(e)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685800"/>
            <a:ext cx="2331720" cy="242316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A1A1A"/>
                </a:solidFill>
                <a:latin typeface="Times New Roman"/>
              </a:rPr>
              <a:t>Evaluation Heads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/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3-class: Nominal | Warning | Hazard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Binary:  Nominal | Danger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/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Metrics:  Acc, Macro-F1, P/R/F1, CM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Binary only:  AUROC, AUPRC,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PR + ROC curves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65960" y="1143000"/>
            <a:ext cx="365760" cy="0"/>
          </a:xfrm>
          <a:prstGeom prst="bentConnector3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2377440"/>
            <a:ext cx="2423160" cy="0"/>
          </a:xfrm>
          <a:prstGeom prst="bentConnector3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23360" y="1143000"/>
            <a:ext cx="365760" cy="548640"/>
          </a:xfrm>
          <a:prstGeom prst="bentConnector3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20840" y="1920240"/>
            <a:ext cx="457200" cy="0"/>
          </a:xfrm>
          <a:prstGeom prst="bentConnector3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4080" y="1920240"/>
            <a:ext cx="457200" cy="0"/>
          </a:xfrm>
          <a:prstGeom prst="bentConnector3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28600" y="4069080"/>
            <a:ext cx="12344400" cy="1371600"/>
          </a:xfrm>
          <a:prstGeom prst="roundRect">
            <a:avLst/>
          </a:prstGeom>
          <a:solidFill>
            <a:srgbClr val="FFFAE0"/>
          </a:solidFill>
          <a:ln w="9525">
            <a:solidFill>
              <a:srgbClr val="3B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  <a:latin typeface="Times New Roman"/>
              </a:rPr>
              <a:t>(f) Robustness ablations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Times New Roman"/>
              </a:rPr>
              <a:t>(f) Robustness ablations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Times New Roman"/>
              </a:rPr>
              <a:t>ASR quality
Whisper {base, medium, large-v3}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52628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Times New Roman"/>
              </a:rPr>
              <a:t>Audio noise
NSR ∈ {5, 10, 25, 50, 75}%
(re-transcribe, then classify)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5262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Times New Roman"/>
              </a:rPr>
              <a:t>Text masking
rate ∈ {10, 20, 40, 60, 80}% × {word, utterance}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97280" y="3246120"/>
            <a:ext cx="0" cy="822960"/>
          </a:xfrm>
          <a:prstGeom prst="bentConnector3">
            <a:avLst/>
          </a:prstGeom>
          <a:ln w="15875" cap="flat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120640" y="3246120"/>
            <a:ext cx="0" cy="822960"/>
          </a:xfrm>
          <a:prstGeom prst="bentConnector3">
            <a:avLst/>
          </a:prstGeom>
          <a:ln w="15875" cap="flat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052560" y="3246120"/>
            <a:ext cx="0" cy="822960"/>
          </a:xfrm>
          <a:prstGeom prst="bentConnector3">
            <a:avLst/>
          </a:prstGeom>
          <a:ln w="15875" cap="flat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